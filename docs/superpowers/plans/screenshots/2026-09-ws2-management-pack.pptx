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Revenue</c:v>
                  </c:pt>
                  <c:pt idx="1">
                    <c:v>Cost of Sales</c:v>
                  </c:pt>
                  <c:pt idx="2">
                    <c:v>Gross Profit</c:v>
                  </c:pt>
                  <c:pt idx="3">
                    <c:v>Operating Expenses</c:v>
                  </c:pt>
                  <c:pt idx="4">
                    <c:v>Other Income</c:v>
                  </c:pt>
                  <c:pt idx="5">
                    <c:v>Other Expenses</c:v>
                  </c:pt>
                  <c:pt idx="6">
                    <c:v>Net Profit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-5535000</c:v>
                </c:pt>
                <c:pt idx="1">
                  <c:v>0</c:v>
                </c:pt>
                <c:pt idx="2">
                  <c:v>-5535000</c:v>
                </c:pt>
                <c:pt idx="3">
                  <c:v>3717000</c:v>
                </c:pt>
                <c:pt idx="4">
                  <c:v>-1000</c:v>
                </c:pt>
                <c:pt idx="5">
                  <c:v>411237</c:v>
                </c:pt>
                <c:pt idx="6">
                  <c:v>-1407763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Sep 2025</c:v>
                  </c:pt>
                  <c:pt idx="1">
                    <c:v>Oct 2025</c:v>
                  </c:pt>
                  <c:pt idx="2">
                    <c:v>Nov 2025</c:v>
                  </c:pt>
                  <c:pt idx="3">
                    <c:v>Dec 2025</c:v>
                  </c:pt>
                  <c:pt idx="4">
                    <c:v>Jan 2026</c:v>
                  </c:pt>
                  <c:pt idx="5">
                    <c:v>Feb 2026</c:v>
                  </c:pt>
                  <c:pt idx="6">
                    <c:v>Mar 2026</c:v>
                  </c:pt>
                  <c:pt idx="7">
                    <c:v>Apr 2026</c:v>
                  </c:pt>
                  <c:pt idx="8">
                    <c:v>May 2026</c:v>
                  </c:pt>
                  <c:pt idx="9">
                    <c:v>Jun 2026</c:v>
                  </c:pt>
                  <c:pt idx="10">
                    <c:v>Jul 2026</c:v>
                  </c:pt>
                  <c:pt idx="11">
                    <c:v>Aug 2026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-5536000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202B"/>
                </a:solidFill>
              </a:rPr>
              <a:t>Brightsphere Technologies (Pty) Ltd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</a:rPr>
              <a:t>Management Pack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2026-03-01 to 2026-08-31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Statement of Comprehensive Income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(5 535 000.00)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Cost of Sales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Gross Profit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(5 535 000.00)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Other Income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(1 000.00)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Operating Expenses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(3 717 000.00)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Operating Profit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(1 819 000.00)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Other Expenses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(411 237.00)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Net Profit / (Loss)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(1 407 763.00)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Statement of Comprehensive Income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Gross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No margin on non-positive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Net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No margin on non-positive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Statement of Financial Position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Total Assets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3 191 495.16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Current Assets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(3 372 628.70)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Cash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(3 452 709.70)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Accounts Receivable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(329 700.00)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Total Liabilities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5 368 200.63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Accounts Payable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Total Equity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(2 176 255.47)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Total Liabilities and Equity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5202B"/>
                          </a:solidFill>
                        </a:rPr>
                        <a:t>3 191 945.16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Statement of Cash Flows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Operating Cash 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(1 407 763.00)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Investing Cash 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Financing Cash 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Net Cash 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(1 407 763.00)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Opening Cash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(2 044 946.70)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Closing Cash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(3 452 709.70)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Financial Ratios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Gross Profit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+100.0%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Net Profit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+25.4%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Operating Profit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+32.9%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Current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-0.58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Quick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-0.58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Debt To Equity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Equity is negative — liabilities exceed assets, so this ratio inverts and cannot be ranked.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Return On Assets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−44.1%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Return On Equity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Equity is negative — liabilities exceed assets, so this ratio inverts and cannot be ranked.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Debtor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22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Creditor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Inventory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Ebitda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(1 819 000.00)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Ebitda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+32.9%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Roce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+70.0%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Pbit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+32.9%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Direct Material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Interest Coverage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Debt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1.68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Equity Multiplier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Equity is negative — liabilities exceed assets, so this ratio inverts and cannot be ranked.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Cash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-0.60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Working Capital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(9 164 656.83)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Operating Cash Flow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Asset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-1.73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Receivables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16.79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Payables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Inventory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Cash Conversion Cycle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22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Net Operating Asset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-6.50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Free Cash 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Ebitda To Net Interest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Pbt To Net Interest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Net Profit To Net Interest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Revenue Per Employee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Pbit Per Employee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Ebitda Per Employee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Employee Cost To Revenue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Employee Cost Per Head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Dividend Cover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Retention 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+100.0%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Effective Tax Rate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0.0%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Dupont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+25.4%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Dupont Turnover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-1.73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Dupont Leverage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Equity is negative — liabilities exceed assets, so this ratio inverts and cannot be ranked.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KPI Scorecard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Gross Profit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100.00 / 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Net Profit Margin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25.43 / 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Current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-0.58 / 1.5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Debt-to-Equity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Equity is negative — liabilities exceed assets, so this ratio inverts and cannot be ranked.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Debtor Days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02B"/>
                          </a:solidFill>
                        </a:rPr>
                        <a:t>21.75 / 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Profit Bridge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Twelve-Month Trend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8229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</a:rPr>
              <a:t>Commentary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02B"/>
                </a:solidFill>
              </a:rPr>
              <a:t>Brightsphere Technologies (Pty) Ltd reported revenue of R -5 535 000 with a net profit margin of 0%.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2026-09-05T22:55:13Z</dcterms:created>
  <dcterms:modified xsi:type="dcterms:W3CDTF">2026-09-05T22:55:13Z</dcterms:modified>
</cp:coreProperties>
</file>